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32004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521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作品概述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12064" y="105156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E62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面向多形态数据库内容的敏感信息识别系统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576304" y="237744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B8AA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66928" y="1627632"/>
            <a:ext cx="493776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521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NDS V6 面向竞赛评测场景，对 MySQL / PostgreSQL 中的结构化字段、JSON、编码串、自然文本、BLOB 图片和数据库对象定义进行统一扫描，输出标准 upload.csv 供平台评分。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897880" y="1481328"/>
            <a:ext cx="2606040" cy="969264"/>
          </a:xfrm>
          <a:prstGeom prst="roundRect">
            <a:avLst>
              <a:gd name="adj" fmla="val 7547"/>
            </a:avLst>
          </a:prstGeom>
          <a:solidFill>
            <a:srgbClr val="FFFDF8"/>
          </a:solidFill>
          <a:ln w="9525">
            <a:solidFill>
              <a:srgbClr val="DED6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25896" y="1600200"/>
            <a:ext cx="2350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类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044184" y="1975104"/>
            <a:ext cx="2313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21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数据库来源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062472" y="2212848"/>
            <a:ext cx="227685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E62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/ PostgreSQL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796528" y="1481328"/>
            <a:ext cx="2606040" cy="969264"/>
          </a:xfrm>
          <a:prstGeom prst="roundRect">
            <a:avLst>
              <a:gd name="adj" fmla="val 7547"/>
            </a:avLst>
          </a:prstGeom>
          <a:solidFill>
            <a:srgbClr val="FFFDF8"/>
          </a:solidFill>
          <a:ln w="9525">
            <a:solidFill>
              <a:srgbClr val="DED6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24544" y="1600200"/>
            <a:ext cx="2350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类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942832" y="1975104"/>
            <a:ext cx="2313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21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数据形态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961120" y="2212848"/>
            <a:ext cx="227685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E62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 / JSON / 编码 / 文本 / BLOB / 对象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897880" y="2706624"/>
            <a:ext cx="2606040" cy="969264"/>
          </a:xfrm>
          <a:prstGeom prst="roundRect">
            <a:avLst>
              <a:gd name="adj" fmla="val 7547"/>
            </a:avLst>
          </a:prstGeom>
          <a:solidFill>
            <a:srgbClr val="FFFDF8"/>
          </a:solidFill>
          <a:ln w="9525">
            <a:solidFill>
              <a:srgbClr val="DED6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25896" y="2825496"/>
            <a:ext cx="2350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类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044184" y="3200400"/>
            <a:ext cx="2313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21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敏感类型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062472" y="3438144"/>
            <a:ext cx="227685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E62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手机号、身份证、银行卡、USCC 等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796528" y="2706624"/>
            <a:ext cx="2606040" cy="969264"/>
          </a:xfrm>
          <a:prstGeom prst="roundRect">
            <a:avLst>
              <a:gd name="adj" fmla="val 7547"/>
            </a:avLst>
          </a:prstGeom>
          <a:solidFill>
            <a:srgbClr val="FFFDF8"/>
          </a:solidFill>
          <a:ln w="9525">
            <a:solidFill>
              <a:srgbClr val="DED6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24544" y="2825496"/>
            <a:ext cx="2350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列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8942832" y="3200400"/>
            <a:ext cx="2313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21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输出格式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961120" y="3438144"/>
            <a:ext cx="227685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E62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对齐赛事 upload.csv 规范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66928" y="3063240"/>
            <a:ext cx="4937760" cy="1417320"/>
          </a:xfrm>
          <a:prstGeom prst="roundRect">
            <a:avLst>
              <a:gd name="adj" fmla="val 5161"/>
            </a:avLst>
          </a:prstGeom>
          <a:solidFill>
            <a:srgbClr val="FFFDF8"/>
          </a:solidFill>
          <a:ln w="9525">
            <a:solidFill>
              <a:srgbClr val="DED6C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928" y="3063240"/>
            <a:ext cx="64008" cy="1417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317296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核心设计定位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31520" y="3456432"/>
            <a:ext cx="4645152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3F3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不是单一正则脚本，而是“形态路由 + 专项检测 + 候选项治理”的可解释识别管道。各检测器产出统一 Candidate，再进入导出治理链路。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566928" y="5074920"/>
            <a:ext cx="10835640" cy="9144"/>
          </a:xfrm>
          <a:prstGeom prst="rect">
            <a:avLst/>
          </a:prstGeom>
          <a:solidFill>
            <a:srgbClr val="DED6C7"/>
          </a:solidFill>
          <a:ln w="12700">
            <a:solidFill>
              <a:srgbClr val="DED6C7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928" y="5321808"/>
            <a:ext cx="1170432" cy="256032"/>
          </a:xfrm>
          <a:prstGeom prst="roundRect">
            <a:avLst>
              <a:gd name="adj" fmla="val 46429"/>
            </a:avLst>
          </a:prstGeom>
          <a:solidFill>
            <a:srgbClr val="DFF3EF"/>
          </a:solidFill>
          <a:ln w="9525">
            <a:solidFill>
              <a:srgbClr val="DFF3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" y="5381244"/>
            <a:ext cx="1060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本地规则引擎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1874520" y="5321808"/>
            <a:ext cx="1261872" cy="256032"/>
          </a:xfrm>
          <a:prstGeom prst="roundRect">
            <a:avLst>
              <a:gd name="adj" fmla="val 46429"/>
            </a:avLst>
          </a:prstGeom>
          <a:solidFill>
            <a:srgbClr val="DFF3EF"/>
          </a:solidFill>
          <a:ln w="9525">
            <a:solidFill>
              <a:srgbClr val="DFF3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29384" y="5381244"/>
            <a:ext cx="11521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字段语义映射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3273552" y="5321808"/>
            <a:ext cx="950976" cy="256032"/>
          </a:xfrm>
          <a:prstGeom prst="roundRect">
            <a:avLst>
              <a:gd name="adj" fmla="val 46429"/>
            </a:avLst>
          </a:prstGeom>
          <a:solidFill>
            <a:srgbClr val="DFF3EF"/>
          </a:solidFill>
          <a:ln w="9525">
            <a:solidFill>
              <a:srgbClr val="DFF3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28416" y="5381244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格式校验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4370832" y="5321808"/>
            <a:ext cx="1170432" cy="256032"/>
          </a:xfrm>
          <a:prstGeom prst="roundRect">
            <a:avLst>
              <a:gd name="adj" fmla="val 46429"/>
            </a:avLst>
          </a:prstGeom>
          <a:solidFill>
            <a:srgbClr val="DFF3EF"/>
          </a:solidFill>
          <a:ln w="9525">
            <a:solidFill>
              <a:srgbClr val="DFF3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25696" y="5381244"/>
            <a:ext cx="1060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OCR 图像识别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5669280" y="5321808"/>
            <a:ext cx="1170432" cy="256032"/>
          </a:xfrm>
          <a:prstGeom prst="roundRect">
            <a:avLst>
              <a:gd name="adj" fmla="val 46429"/>
            </a:avLst>
          </a:prstGeom>
          <a:solidFill>
            <a:srgbClr val="DFF3EF"/>
          </a:solidFill>
          <a:ln w="9525">
            <a:solidFill>
              <a:srgbClr val="DFF3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24144" y="5381244"/>
            <a:ext cx="1060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标准化导出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6986016" y="5321808"/>
            <a:ext cx="1426464" cy="256032"/>
          </a:xfrm>
          <a:prstGeom prst="roundRect">
            <a:avLst>
              <a:gd name="adj" fmla="val 46429"/>
            </a:avLst>
          </a:prstGeom>
          <a:solidFill>
            <a:srgbClr val="DFF3EF"/>
          </a:solidFill>
          <a:ln w="9525">
            <a:solidFill>
              <a:srgbClr val="DFF3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40880" y="5381244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可追溯 Candidate</a:t>
            </a:r>
            <a:endParaRPr lang="en-US" sz="8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32004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RESULT EVIDENCE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521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完整运行结果与交付状态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12064" y="105156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E62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用平台结果、运行耗时、输出规模和交付物证明系统闭环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576304" y="237744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B8AA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85800" y="1591056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FFFDF8"/>
          </a:solidFill>
          <a:ln w="9525">
            <a:solidFill>
              <a:srgbClr val="DED6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709928"/>
            <a:ext cx="2258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92.78%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832104" y="2212848"/>
            <a:ext cx="2221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21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平台验分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50392" y="2450592"/>
            <a:ext cx="2185416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E62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完整运行结果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93008" y="1591056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FFFDF8"/>
          </a:solidFill>
          <a:ln w="9525">
            <a:solidFill>
              <a:srgbClr val="DED6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21024" y="1709928"/>
            <a:ext cx="2258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分钟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3639312" y="2212848"/>
            <a:ext cx="2221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21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运行耗时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0" y="2450592"/>
            <a:ext cx="2185416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E62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完整扫描与导出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300216" y="1591056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FFFDF8"/>
          </a:solidFill>
          <a:ln w="9525">
            <a:solidFill>
              <a:srgbClr val="DED6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8232" y="1709928"/>
            <a:ext cx="2258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55,351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6446520" y="2212848"/>
            <a:ext cx="2221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21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CSV 数据行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64808" y="2450592"/>
            <a:ext cx="2185416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E62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不含表头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107424" y="1591056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FFFDF8"/>
          </a:solidFill>
          <a:ln w="9525">
            <a:solidFill>
              <a:srgbClr val="DED6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35440" y="1709928"/>
            <a:ext cx="2258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PE32+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9253728" y="2212848"/>
            <a:ext cx="2221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21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 exe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272016" y="2450592"/>
            <a:ext cx="2185416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E62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NDS_V6.exe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85800" y="3310128"/>
            <a:ext cx="3474720" cy="1298448"/>
          </a:xfrm>
          <a:prstGeom prst="roundRect">
            <a:avLst>
              <a:gd name="adj" fmla="val 5634"/>
            </a:avLst>
          </a:prstGeom>
          <a:solidFill>
            <a:srgbClr val="FFFDF8"/>
          </a:solidFill>
          <a:ln w="9525">
            <a:solidFill>
              <a:srgbClr val="DED6C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3310128"/>
            <a:ext cx="64008" cy="12984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" y="341985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评分输出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50392" y="3703320"/>
            <a:ext cx="3182112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3F3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upload.csv 保持赛事 9 列字段：库类型、库名、表名、字段名、记录 ID、数据形态、敏感类型、敏感级别、识别值。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4361688" y="3310128"/>
            <a:ext cx="3474720" cy="1298448"/>
          </a:xfrm>
          <a:prstGeom prst="roundRect">
            <a:avLst>
              <a:gd name="adj" fmla="val 5634"/>
            </a:avLst>
          </a:prstGeom>
          <a:solidFill>
            <a:srgbClr val="FFFDF8"/>
          </a:solidFill>
          <a:ln w="9525">
            <a:solidFill>
              <a:srgbClr val="DED6C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61688" y="3310128"/>
            <a:ext cx="64008" cy="129844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26280" y="341985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运行配置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26280" y="3703320"/>
            <a:ext cx="3182112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3F3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数据库连接与运行参数由 config.yaml 外置管理，现场环境可调整 host、port、账号、密码和库名。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8037576" y="3310128"/>
            <a:ext cx="3584448" cy="1298448"/>
          </a:xfrm>
          <a:prstGeom prst="roundRect">
            <a:avLst>
              <a:gd name="adj" fmla="val 5634"/>
            </a:avLst>
          </a:prstGeom>
          <a:solidFill>
            <a:srgbClr val="FFFDF8"/>
          </a:solidFill>
          <a:ln w="9525">
            <a:solidFill>
              <a:srgbClr val="DED6C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37576" y="3310128"/>
            <a:ext cx="64008" cy="12984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02168" y="3419856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交付形态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202168" y="3703320"/>
            <a:ext cx="329184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3F3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NDS_V6.exe 是 Windows PE 可执行文件；交付包包含源码、文档、PPT、讲稿和演示视频。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685800" y="5029200"/>
            <a:ext cx="10936224" cy="530352"/>
          </a:xfrm>
          <a:prstGeom prst="roundRect">
            <a:avLst>
              <a:gd name="adj" fmla="val 13793"/>
            </a:avLst>
          </a:prstGeom>
          <a:solidFill>
            <a:srgbClr val="F2E7D4"/>
          </a:solidFill>
          <a:ln w="9525">
            <a:solidFill>
              <a:srgbClr val="F2E7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8680" y="5193792"/>
            <a:ext cx="10552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讲述顺序：先给出结果证据，再用后续页面解释“为什么能覆盖、为什么能验证、为什么能导出”。</a:t>
            </a:r>
            <a:endParaRPr lang="en-US" sz="9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32004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521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总体架构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12064" y="105156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E62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Candidate 为统一中间模型，串联扫描、检测、匹配与导出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576304" y="237744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B8AA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1664208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FFFDF8"/>
          </a:solidFill>
          <a:ln w="9525">
            <a:solidFill>
              <a:srgbClr val="DED6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792224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21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Config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640080" y="2048256"/>
            <a:ext cx="1453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E62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连接与参数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2240280" y="189280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41448" y="1664208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F5F0E7"/>
          </a:solidFill>
          <a:ln w="9525">
            <a:solidFill>
              <a:srgbClr val="DED6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1792224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21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StructureScanner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2514600" y="2048256"/>
            <a:ext cx="1453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E62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元数据扫描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4114800" y="189280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15968" y="1664208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FFFDF8"/>
          </a:solidFill>
          <a:ln w="9525">
            <a:solidFill>
              <a:srgbClr val="DED6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1792224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21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FormRouter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4389120" y="2048256"/>
            <a:ext cx="1453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E62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形态路由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5989320" y="189280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90488" y="1664208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F5F0E7"/>
          </a:solidFill>
          <a:ln w="9525">
            <a:solidFill>
              <a:srgbClr val="DED6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1792224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21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Detectors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6263640" y="2048256"/>
            <a:ext cx="1453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E62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专项检测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7863840" y="189280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65008" y="1664208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FFFDF8"/>
          </a:solidFill>
          <a:ln w="9525">
            <a:solidFill>
              <a:srgbClr val="DED6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38160" y="1792224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21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SensitiveMatcher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8138160" y="2048256"/>
            <a:ext cx="1453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E62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匹配校验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9738360" y="189280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939528" y="1664208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F5F0E7"/>
          </a:solidFill>
          <a:ln w="9525">
            <a:solidFill>
              <a:srgbClr val="DED6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12680" y="1792224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ExportPipeline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10012680" y="2048256"/>
            <a:ext cx="1453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E62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治理导出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566928" y="288036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DF8"/>
          </a:solidFill>
          <a:ln w="9525">
            <a:solidFill>
              <a:srgbClr val="DED6C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6928" y="2880360"/>
            <a:ext cx="64008" cy="1965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2990088"/>
            <a:ext cx="4983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Candidate 统一候选项模型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31520" y="3273552"/>
            <a:ext cx="4965192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3F3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所有检测器都输出 Candidate dataclass。核心 key 按 7 个字段组成：db_type / db_name / table_name / field_name / record_id / sensitive_type / extracted_value。</a:t>
            </a:r>
            <a:endParaRPr lang="en-US" sz="880" dirty="0"/>
          </a:p>
          <a:p>
            <a:pPr algn="l" indent="0" marL="0">
              <a:buNone/>
            </a:pP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3F3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 key 与平台评分匹配规则对齐，to_csv_row() 再扩展为 9 列 CSV。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6089904" y="288036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FFFDF8"/>
          </a:solidFill>
          <a:ln w="9525">
            <a:solidFill>
              <a:srgbClr val="DED6C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89904" y="2880360"/>
            <a:ext cx="64008" cy="19659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54496" y="299008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架构价值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254496" y="3273552"/>
            <a:ext cx="5010912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3F3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前端扫描阶段只负责发现候选；后端导出阶段统一处理标准化、去重、降噪和 CSV 写出。</a:t>
            </a:r>
            <a:endParaRPr lang="en-US" sz="880" dirty="0"/>
          </a:p>
          <a:p>
            <a:pPr algn="l" indent="0" marL="0">
              <a:buNone/>
            </a:pP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3F3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这种设计让 JSON、编码、BLOB OCR、数据库对象等复杂来源最终进入同一套可治理输出。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685800" y="5230368"/>
            <a:ext cx="1024128" cy="310896"/>
          </a:xfrm>
          <a:prstGeom prst="roundRect">
            <a:avLst>
              <a:gd name="adj" fmla="val 8824"/>
            </a:avLst>
          </a:prstGeom>
          <a:solidFill>
            <a:srgbClr val="FFFDF8"/>
          </a:solidFill>
          <a:ln w="9525">
            <a:solidFill>
              <a:srgbClr val="DED6C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2376" y="5340096"/>
            <a:ext cx="95097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E62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db_type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1883664" y="5230368"/>
            <a:ext cx="1024128" cy="310896"/>
          </a:xfrm>
          <a:prstGeom prst="roundRect">
            <a:avLst>
              <a:gd name="adj" fmla="val 8824"/>
            </a:avLst>
          </a:prstGeom>
          <a:solidFill>
            <a:srgbClr val="FFFDF8"/>
          </a:solidFill>
          <a:ln w="9525">
            <a:solidFill>
              <a:srgbClr val="DED6C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920240" y="5340096"/>
            <a:ext cx="95097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E62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db_name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081528" y="5230368"/>
            <a:ext cx="1024128" cy="310896"/>
          </a:xfrm>
          <a:prstGeom prst="roundRect">
            <a:avLst>
              <a:gd name="adj" fmla="val 8824"/>
            </a:avLst>
          </a:prstGeom>
          <a:solidFill>
            <a:srgbClr val="FFFDF8"/>
          </a:solidFill>
          <a:ln w="9525">
            <a:solidFill>
              <a:srgbClr val="DED6C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118104" y="5340096"/>
            <a:ext cx="95097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E62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table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279392" y="5230368"/>
            <a:ext cx="1024128" cy="310896"/>
          </a:xfrm>
          <a:prstGeom prst="roundRect">
            <a:avLst>
              <a:gd name="adj" fmla="val 8824"/>
            </a:avLst>
          </a:prstGeom>
          <a:solidFill>
            <a:srgbClr val="FFFDF8"/>
          </a:solidFill>
          <a:ln w="9525">
            <a:solidFill>
              <a:srgbClr val="DED6C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15968" y="5340096"/>
            <a:ext cx="95097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E62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field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5477256" y="5230368"/>
            <a:ext cx="1024128" cy="310896"/>
          </a:xfrm>
          <a:prstGeom prst="roundRect">
            <a:avLst>
              <a:gd name="adj" fmla="val 8824"/>
            </a:avLst>
          </a:prstGeom>
          <a:solidFill>
            <a:srgbClr val="FFFDF8"/>
          </a:solidFill>
          <a:ln w="9525">
            <a:solidFill>
              <a:srgbClr val="DED6C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13832" y="5340096"/>
            <a:ext cx="95097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E62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record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675120" y="5230368"/>
            <a:ext cx="1024128" cy="310896"/>
          </a:xfrm>
          <a:prstGeom prst="roundRect">
            <a:avLst>
              <a:gd name="adj" fmla="val 8824"/>
            </a:avLst>
          </a:prstGeom>
          <a:solidFill>
            <a:srgbClr val="FFFDF8"/>
          </a:solidFill>
          <a:ln w="9525">
            <a:solidFill>
              <a:srgbClr val="DED6C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11696" y="5340096"/>
            <a:ext cx="95097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data_form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7872984" y="5230368"/>
            <a:ext cx="1024128" cy="310896"/>
          </a:xfrm>
          <a:prstGeom prst="roundRect">
            <a:avLst>
              <a:gd name="adj" fmla="val 8824"/>
            </a:avLst>
          </a:prstGeom>
          <a:solidFill>
            <a:srgbClr val="FFFDF8"/>
          </a:solidFill>
          <a:ln w="9525">
            <a:solidFill>
              <a:srgbClr val="DED6C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909560" y="5340096"/>
            <a:ext cx="95097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type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9070848" y="5230368"/>
            <a:ext cx="1024128" cy="310896"/>
          </a:xfrm>
          <a:prstGeom prst="roundRect">
            <a:avLst>
              <a:gd name="adj" fmla="val 8824"/>
            </a:avLst>
          </a:prstGeom>
          <a:solidFill>
            <a:srgbClr val="FFFDF8"/>
          </a:solidFill>
          <a:ln w="9525">
            <a:solidFill>
              <a:srgbClr val="DED6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107424" y="5340096"/>
            <a:ext cx="95097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E62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level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10268712" y="5230368"/>
            <a:ext cx="1024128" cy="310896"/>
          </a:xfrm>
          <a:prstGeom prst="roundRect">
            <a:avLst>
              <a:gd name="adj" fmla="val 8824"/>
            </a:avLst>
          </a:prstGeom>
          <a:solidFill>
            <a:srgbClr val="FFFDF8"/>
          </a:solidFill>
          <a:ln w="9525">
            <a:solidFill>
              <a:srgbClr val="DED6C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305288" y="5340096"/>
            <a:ext cx="95097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value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32004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FORM ROUTING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521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六数据形态自动路由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12064" y="105156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E62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字段类型优先，字段名语义补充，自动分配到专项检测器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576304" y="237744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B8AA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66928" y="150876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源信号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560320" y="1508760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路由规则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035040" y="1508760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目标检测器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641080" y="1508760"/>
            <a:ext cx="2423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data_form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66928" y="1773936"/>
            <a:ext cx="10927080" cy="1005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1901952"/>
            <a:ext cx="10927080" cy="374904"/>
          </a:xfrm>
          <a:prstGeom prst="rect">
            <a:avLst/>
          </a:prstGeom>
          <a:solidFill>
            <a:srgbClr val="F5F0E7">
              <a:alpha val="82000"/>
            </a:srgbClr>
          </a:solidFill>
          <a:ln w="1270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19476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3F3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BLOB / BYTEA</a:t>
            </a:r>
            <a:endParaRPr lang="en-US" sz="740" dirty="0"/>
          </a:p>
        </p:txBody>
      </p:sp>
      <p:sp>
        <p:nvSpPr>
          <p:cNvPr id="15" name="Text 13"/>
          <p:cNvSpPr/>
          <p:nvPr/>
        </p:nvSpPr>
        <p:spPr>
          <a:xfrm>
            <a:off x="2560320" y="194767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3F3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blob、mediumblob、longblob、binary、bytea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035040" y="194767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3F3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BinaryBlobDetector</a:t>
            </a:r>
            <a:endParaRPr lang="en-US" sz="770" dirty="0"/>
          </a:p>
        </p:txBody>
      </p:sp>
      <p:sp>
        <p:nvSpPr>
          <p:cNvPr id="17" name="Text 15"/>
          <p:cNvSpPr/>
          <p:nvPr/>
        </p:nvSpPr>
        <p:spPr>
          <a:xfrm>
            <a:off x="8641080" y="194767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binary_blob</a:t>
            </a:r>
            <a:endParaRPr lang="en-US" sz="770" dirty="0"/>
          </a:p>
        </p:txBody>
      </p:sp>
      <p:sp>
        <p:nvSpPr>
          <p:cNvPr id="18" name="Text 16"/>
          <p:cNvSpPr/>
          <p:nvPr/>
        </p:nvSpPr>
        <p:spPr>
          <a:xfrm>
            <a:off x="566928" y="23865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3F3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 / JSONB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2560320" y="238658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3F3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json、jsonb 列类型</a:t>
            </a:r>
            <a:endParaRPr lang="en-US" sz="740" dirty="0"/>
          </a:p>
        </p:txBody>
      </p:sp>
      <p:sp>
        <p:nvSpPr>
          <p:cNvPr id="20" name="Text 18"/>
          <p:cNvSpPr/>
          <p:nvPr/>
        </p:nvSpPr>
        <p:spPr>
          <a:xfrm>
            <a:off x="6035040" y="2386584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3F3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SemiStructuredDetector</a:t>
            </a:r>
            <a:endParaRPr lang="en-US" sz="770" dirty="0"/>
          </a:p>
        </p:txBody>
      </p:sp>
      <p:sp>
        <p:nvSpPr>
          <p:cNvPr id="21" name="Text 19"/>
          <p:cNvSpPr/>
          <p:nvPr/>
        </p:nvSpPr>
        <p:spPr>
          <a:xfrm>
            <a:off x="8641080" y="238658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semi_structured</a:t>
            </a:r>
            <a:endParaRPr lang="en-US" sz="770" dirty="0"/>
          </a:p>
        </p:txBody>
      </p:sp>
      <p:sp>
        <p:nvSpPr>
          <p:cNvPr id="22" name="Shape 20"/>
          <p:cNvSpPr/>
          <p:nvPr/>
        </p:nvSpPr>
        <p:spPr>
          <a:xfrm>
            <a:off x="566928" y="2779776"/>
            <a:ext cx="10927080" cy="374904"/>
          </a:xfrm>
          <a:prstGeom prst="rect">
            <a:avLst/>
          </a:prstGeom>
          <a:solidFill>
            <a:srgbClr val="F5F0E7">
              <a:alpha val="82000"/>
            </a:srgbClr>
          </a:solidFill>
          <a:ln w="1270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28254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3F3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编码列名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2560320" y="282549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3F3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encoded、encrypt、cipher、base64、hex、token、secret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6035040" y="2825496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3F3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EncodedDetector</a:t>
            </a:r>
            <a:endParaRPr lang="en-US" sz="770" dirty="0"/>
          </a:p>
        </p:txBody>
      </p:sp>
      <p:sp>
        <p:nvSpPr>
          <p:cNvPr id="26" name="Text 24"/>
          <p:cNvSpPr/>
          <p:nvPr/>
        </p:nvSpPr>
        <p:spPr>
          <a:xfrm>
            <a:off x="8641080" y="2825496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encoded</a:t>
            </a:r>
            <a:endParaRPr lang="en-US" sz="770" dirty="0"/>
          </a:p>
        </p:txBody>
      </p:sp>
      <p:sp>
        <p:nvSpPr>
          <p:cNvPr id="27" name="Text 25"/>
          <p:cNvSpPr/>
          <p:nvPr/>
        </p:nvSpPr>
        <p:spPr>
          <a:xfrm>
            <a:off x="566928" y="32644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3F3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文本列名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2560320" y="326440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3F3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content、description、note、log、comment、message、body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6035040" y="326440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3F3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UnstructuredDetector</a:t>
            </a:r>
            <a:endParaRPr lang="en-US" sz="770" dirty="0"/>
          </a:p>
        </p:txBody>
      </p:sp>
      <p:sp>
        <p:nvSpPr>
          <p:cNvPr id="30" name="Text 28"/>
          <p:cNvSpPr/>
          <p:nvPr/>
        </p:nvSpPr>
        <p:spPr>
          <a:xfrm>
            <a:off x="8641080" y="326440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unstructured_text</a:t>
            </a:r>
            <a:endParaRPr lang="en-US" sz="770" dirty="0"/>
          </a:p>
        </p:txBody>
      </p:sp>
      <p:sp>
        <p:nvSpPr>
          <p:cNvPr id="31" name="Shape 29"/>
          <p:cNvSpPr/>
          <p:nvPr/>
        </p:nvSpPr>
        <p:spPr>
          <a:xfrm>
            <a:off x="566928" y="3657600"/>
            <a:ext cx="10927080" cy="374904"/>
          </a:xfrm>
          <a:prstGeom prst="rect">
            <a:avLst/>
          </a:prstGeom>
          <a:solidFill>
            <a:srgbClr val="F5F0E7">
              <a:alpha val="82000"/>
            </a:srgbClr>
          </a:solidFill>
          <a:ln w="1270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37033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3F3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默认字段</a:t>
            </a:r>
            <a:endParaRPr lang="en-US" sz="740" dirty="0"/>
          </a:p>
        </p:txBody>
      </p:sp>
      <p:sp>
        <p:nvSpPr>
          <p:cNvPr id="33" name="Text 31"/>
          <p:cNvSpPr/>
          <p:nvPr/>
        </p:nvSpPr>
        <p:spPr>
          <a:xfrm>
            <a:off x="2560320" y="3703320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3F3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未命中以上规则的普通列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6035040" y="370332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3F3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StructuredDetector</a:t>
            </a:r>
            <a:endParaRPr lang="en-US" sz="770" dirty="0"/>
          </a:p>
        </p:txBody>
      </p:sp>
      <p:sp>
        <p:nvSpPr>
          <p:cNvPr id="35" name="Text 33"/>
          <p:cNvSpPr/>
          <p:nvPr/>
        </p:nvSpPr>
        <p:spPr>
          <a:xfrm>
            <a:off x="8641080" y="370332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structured</a:t>
            </a:r>
            <a:endParaRPr lang="en-US" sz="770" dirty="0"/>
          </a:p>
        </p:txBody>
      </p:sp>
      <p:sp>
        <p:nvSpPr>
          <p:cNvPr id="36" name="Text 34"/>
          <p:cNvSpPr/>
          <p:nvPr/>
        </p:nvSpPr>
        <p:spPr>
          <a:xfrm>
            <a:off x="566928" y="41422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3F3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 / 视图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2560320" y="414223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3F3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ROUTINES、pg_proc、VIEWS 中的 SQL 定义</a:t>
            </a:r>
            <a:endParaRPr lang="en-US" sz="740" dirty="0"/>
          </a:p>
        </p:txBody>
      </p:sp>
      <p:sp>
        <p:nvSpPr>
          <p:cNvPr id="38" name="Text 36"/>
          <p:cNvSpPr/>
          <p:nvPr/>
        </p:nvSpPr>
        <p:spPr>
          <a:xfrm>
            <a:off x="6035040" y="414223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3F3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DbObjectDetector</a:t>
            </a:r>
            <a:endParaRPr lang="en-US" sz="770" dirty="0"/>
          </a:p>
        </p:txBody>
      </p:sp>
      <p:sp>
        <p:nvSpPr>
          <p:cNvPr id="39" name="Text 37"/>
          <p:cNvSpPr/>
          <p:nvPr/>
        </p:nvSpPr>
        <p:spPr>
          <a:xfrm>
            <a:off x="8641080" y="414223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db_object</a:t>
            </a:r>
            <a:endParaRPr lang="en-US" sz="770" dirty="0"/>
          </a:p>
        </p:txBody>
      </p:sp>
      <p:sp>
        <p:nvSpPr>
          <p:cNvPr id="40" name="Shape 38"/>
          <p:cNvSpPr/>
          <p:nvPr/>
        </p:nvSpPr>
        <p:spPr>
          <a:xfrm>
            <a:off x="658368" y="4919472"/>
            <a:ext cx="10744200" cy="566928"/>
          </a:xfrm>
          <a:prstGeom prst="roundRect">
            <a:avLst>
              <a:gd name="adj" fmla="val 12903"/>
            </a:avLst>
          </a:prstGeom>
          <a:solidFill>
            <a:srgbClr val="F2E7D4"/>
          </a:solidFill>
          <a:ln w="9525">
            <a:solidFill>
              <a:srgbClr val="F2E7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8680" y="5102352"/>
            <a:ext cx="10287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优先级示例：varchar 列名为 encoded_token 时，先命中 encoded 关键词，进入 EncodedDetector，而不是按文本字段处理。</a:t>
            </a:r>
            <a:endParaRPr lang="en-US" sz="9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32004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DETECTION ENGINES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521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复杂形态检测引擎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12064" y="105156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E62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编码、二进制、数据库对象分别用专项路径解析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576304" y="237744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B8AA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1508760"/>
            <a:ext cx="3456432" cy="3310128"/>
          </a:xfrm>
          <a:prstGeom prst="roundRect">
            <a:avLst>
              <a:gd name="adj" fmla="val 2210"/>
            </a:avLst>
          </a:prstGeom>
          <a:solidFill>
            <a:srgbClr val="FFFDF8"/>
          </a:solidFill>
          <a:ln w="9525">
            <a:solidFill>
              <a:srgbClr val="DED6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508760"/>
            <a:ext cx="3456432" cy="5120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" y="1636776"/>
            <a:ext cx="3236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EncodedDetector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6656" y="2148840"/>
            <a:ext cx="3236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编码字段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49808" y="2578608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2560320"/>
            <a:ext cx="2962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3F3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Base64 / Hex / URL 三类解码器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49808" y="3017520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2999232"/>
            <a:ext cx="2962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3F3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最多 4 轮递归解码，seen 集合去重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749808" y="3456432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3438144"/>
            <a:ext cx="2962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3F3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解码后继续尝试 JSON 与 KV 解析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49808" y="3895344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3877056"/>
            <a:ext cx="2962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3F3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Hex 解码检查可打印字符，降低误判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4370832" y="1508760"/>
            <a:ext cx="3456432" cy="3310128"/>
          </a:xfrm>
          <a:prstGeom prst="roundRect">
            <a:avLst>
              <a:gd name="adj" fmla="val 2210"/>
            </a:avLst>
          </a:prstGeom>
          <a:solidFill>
            <a:srgbClr val="FFFDF8"/>
          </a:solidFill>
          <a:ln w="9525">
            <a:solidFill>
              <a:srgbClr val="DED6C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70832" y="1508760"/>
            <a:ext cx="3456432" cy="5120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1636776"/>
            <a:ext cx="3236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BinaryBlobDetector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80560" y="2148840"/>
            <a:ext cx="3236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二进制 BLOB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53712" y="2578608"/>
            <a:ext cx="73152" cy="7315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0016" y="2560320"/>
            <a:ext cx="2962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3F3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JPEG / PNG / GIF / BMP 签名识别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4553712" y="3017520"/>
            <a:ext cx="73152" cy="7315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0016" y="2999232"/>
            <a:ext cx="2962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3F3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ZIP / PDF / ICO / RIFF 跳过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4553712" y="3456432"/>
            <a:ext cx="73152" cy="7315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0016" y="3438144"/>
            <a:ext cx="2962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3F3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RapidOCR + 图像预处理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4553712" y="3895344"/>
            <a:ext cx="73152" cy="7315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0016" y="3877056"/>
            <a:ext cx="2962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3F3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身份证、病历号、银行卡 OCR 容错匹配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8174736" y="1508760"/>
            <a:ext cx="3246120" cy="3310128"/>
          </a:xfrm>
          <a:prstGeom prst="roundRect">
            <a:avLst>
              <a:gd name="adj" fmla="val 2254"/>
            </a:avLst>
          </a:prstGeom>
          <a:solidFill>
            <a:srgbClr val="FFFDF8"/>
          </a:solidFill>
          <a:ln w="9525">
            <a:solidFill>
              <a:srgbClr val="DED6C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74736" y="1508760"/>
            <a:ext cx="3246120" cy="512064"/>
          </a:xfrm>
          <a:prstGeom prst="rect">
            <a:avLst/>
          </a:prstGeom>
          <a:solidFill>
            <a:srgbClr val="25211A"/>
          </a:solidFill>
          <a:ln w="12700">
            <a:solidFill>
              <a:srgbClr val="2521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84464" y="1636776"/>
            <a:ext cx="3026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DbObjectDetector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84464" y="2148840"/>
            <a:ext cx="3026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21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数据库对象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357616" y="2578608"/>
            <a:ext cx="73152" cy="73152"/>
          </a:xfrm>
          <a:prstGeom prst="ellipse">
            <a:avLst/>
          </a:prstGeom>
          <a:solidFill>
            <a:srgbClr val="25211A"/>
          </a:solidFill>
          <a:ln w="12700">
            <a:solidFill>
              <a:srgbClr val="2521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03920" y="2560320"/>
            <a:ext cx="2752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3F3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扫描存储过程和视图 SQL 定义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8357616" y="3017520"/>
            <a:ext cx="73152" cy="73152"/>
          </a:xfrm>
          <a:prstGeom prst="ellipse">
            <a:avLst/>
          </a:prstGeom>
          <a:solidFill>
            <a:srgbClr val="25211A"/>
          </a:solidFill>
          <a:ln w="12700">
            <a:solidFill>
              <a:srgbClr val="25211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03920" y="2999232"/>
            <a:ext cx="2752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3F3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information_schema.ROUTINES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8357616" y="3456432"/>
            <a:ext cx="73152" cy="73152"/>
          </a:xfrm>
          <a:prstGeom prst="ellipse">
            <a:avLst/>
          </a:prstGeom>
          <a:solidFill>
            <a:srgbClr val="25211A"/>
          </a:solidFill>
          <a:ln w="12700">
            <a:solidFill>
              <a:srgbClr val="25211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03920" y="3438144"/>
            <a:ext cx="2752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3F3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PostgreSQL pg_proc / VIEWS</a:t>
            </a:r>
            <a:endParaRPr lang="en-US" sz="880" dirty="0"/>
          </a:p>
        </p:txBody>
      </p:sp>
      <p:sp>
        <p:nvSpPr>
          <p:cNvPr id="42" name="Shape 40"/>
          <p:cNvSpPr/>
          <p:nvPr/>
        </p:nvSpPr>
        <p:spPr>
          <a:xfrm>
            <a:off x="8357616" y="3895344"/>
            <a:ext cx="73152" cy="73152"/>
          </a:xfrm>
          <a:prstGeom prst="ellipse">
            <a:avLst/>
          </a:prstGeom>
          <a:solidFill>
            <a:srgbClr val="25211A"/>
          </a:solidFill>
          <a:ln w="12700">
            <a:solidFill>
              <a:srgbClr val="25211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03920" y="3877056"/>
            <a:ext cx="2752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3F3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db_object，record_id 使用破折号</a:t>
            </a: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566928" y="5084064"/>
            <a:ext cx="10853928" cy="420624"/>
          </a:xfrm>
          <a:prstGeom prst="roundRect">
            <a:avLst>
              <a:gd name="adj" fmla="val 17391"/>
            </a:avLst>
          </a:prstGeom>
          <a:solidFill>
            <a:srgbClr val="F2E7D4"/>
          </a:solidFill>
          <a:ln w="9525">
            <a:solidFill>
              <a:srgbClr val="F2E7D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7240" y="5230368"/>
            <a:ext cx="10424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讲述重点：复杂数据不是统一套正则，而是先解析成可匹配文本，再进入 SensitiveMatcher 和 Candidate 输出。</a:t>
            </a:r>
            <a:endParaRPr lang="en-US" sz="9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32004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MATCHING &amp; CONFIDENCE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521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匹配机制与置信度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12064" y="105156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E62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正则粗筛、格式校验精筛、字段语义加权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576304" y="237744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B8AA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77240" y="1536192"/>
            <a:ext cx="2999232" cy="987552"/>
          </a:xfrm>
          <a:prstGeom prst="roundRect">
            <a:avLst>
              <a:gd name="adj" fmla="val 7407"/>
            </a:avLst>
          </a:prstGeom>
          <a:solidFill>
            <a:srgbClr val="DFF3EF"/>
          </a:solidFill>
          <a:ln w="9525">
            <a:solidFill>
              <a:srgbClr val="DED6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1719072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字段语义提示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41832" y="2029968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E62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140+ 字段名关键词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6E62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种敏感类型映射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3867912" y="188366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26280" y="1536192"/>
            <a:ext cx="2999232" cy="987552"/>
          </a:xfrm>
          <a:prstGeom prst="roundRect">
            <a:avLst>
              <a:gd name="adj" fmla="val 7407"/>
            </a:avLst>
          </a:prstGeom>
          <a:solidFill>
            <a:srgbClr val="FFFDF8"/>
          </a:solidFill>
          <a:ln w="9525">
            <a:solidFill>
              <a:srgbClr val="DED6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90872" y="1719072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正则粗筛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90872" y="2029968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E62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类敏感类型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6E62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 条正则规则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7616952" y="188366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75320" y="1536192"/>
            <a:ext cx="2999232" cy="987552"/>
          </a:xfrm>
          <a:prstGeom prst="roundRect">
            <a:avLst>
              <a:gd name="adj" fmla="val 7407"/>
            </a:avLst>
          </a:prstGeom>
          <a:solidFill>
            <a:srgbClr val="DFF3EF"/>
          </a:solidFill>
          <a:ln w="9525">
            <a:solidFill>
              <a:srgbClr val="DED6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39912" y="1719072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格式校验精筛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39912" y="2029968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E62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校验位 / Luhn / USCC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6E62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VIN / 中文姓名词表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777240" y="3072384"/>
            <a:ext cx="5138928" cy="1737360"/>
          </a:xfrm>
          <a:prstGeom prst="roundRect">
            <a:avLst>
              <a:gd name="adj" fmla="val 4211"/>
            </a:avLst>
          </a:prstGeom>
          <a:solidFill>
            <a:srgbClr val="FFFDF8"/>
          </a:solidFill>
          <a:ln w="9525">
            <a:solidFill>
              <a:srgbClr val="DED6C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072384"/>
            <a:ext cx="64008" cy="17373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" y="3182112"/>
            <a:ext cx="4864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字段语义加权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41832" y="3465576"/>
            <a:ext cx="484632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3F3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字段名命中敏感类型关键词时，匹配置信度提升；字段语义冲突时降权。例：phone 字段里的手机号可提升到 0.95，age 字段里疑似身份证会被惩罚。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6199632" y="3072384"/>
            <a:ext cx="5138928" cy="1737360"/>
          </a:xfrm>
          <a:prstGeom prst="roundRect">
            <a:avLst>
              <a:gd name="adj" fmla="val 4211"/>
            </a:avLst>
          </a:prstGeom>
          <a:solidFill>
            <a:srgbClr val="FFFDF8"/>
          </a:solidFill>
          <a:ln w="9525">
            <a:solidFill>
              <a:srgbClr val="DED6C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99632" y="3072384"/>
            <a:ext cx="64008" cy="17373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64224" y="3182112"/>
            <a:ext cx="4864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格式校验精筛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64224" y="3465576"/>
            <a:ext cx="484632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3F3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身份证校验区域码、出生日期和校验位；银行卡使用 Luhn；USCC 使用字符集与加权校验；中文姓名结合姓氏表和排除词表。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1024128" y="5248656"/>
            <a:ext cx="1078992" cy="256032"/>
          </a:xfrm>
          <a:prstGeom prst="roundRect">
            <a:avLst>
              <a:gd name="adj" fmla="val 46429"/>
            </a:avLst>
          </a:prstGeom>
          <a:solidFill>
            <a:srgbClr val="DFF3EF"/>
          </a:solidFill>
          <a:ln w="9525">
            <a:solidFill>
              <a:srgbClr val="DFF3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78992" y="5308092"/>
            <a:ext cx="9692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规则可解释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2331720" y="5248656"/>
            <a:ext cx="1243584" cy="256032"/>
          </a:xfrm>
          <a:prstGeom prst="roundRect">
            <a:avLst>
              <a:gd name="adj" fmla="val 46429"/>
            </a:avLst>
          </a:prstGeom>
          <a:solidFill>
            <a:srgbClr val="DFF3EF"/>
          </a:solidFill>
          <a:ln w="9525">
            <a:solidFill>
              <a:srgbClr val="DFF3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86584" y="5308092"/>
            <a:ext cx="1133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置信度可排序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3794760" y="5248656"/>
            <a:ext cx="1078992" cy="256032"/>
          </a:xfrm>
          <a:prstGeom prst="roundRect">
            <a:avLst>
              <a:gd name="adj" fmla="val 46429"/>
            </a:avLst>
          </a:prstGeom>
          <a:solidFill>
            <a:srgbClr val="DFF3EF"/>
          </a:solidFill>
          <a:ln w="9525">
            <a:solidFill>
              <a:srgbClr val="DFF3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9624" y="5308092"/>
            <a:ext cx="9692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误报可抑制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5074920" y="5248656"/>
            <a:ext cx="1078992" cy="256032"/>
          </a:xfrm>
          <a:prstGeom prst="roundRect">
            <a:avLst>
              <a:gd name="adj" fmla="val 46429"/>
            </a:avLst>
          </a:prstGeom>
          <a:solidFill>
            <a:srgbClr val="DFF3EF"/>
          </a:solidFill>
          <a:ln w="9525">
            <a:solidFill>
              <a:srgbClr val="DFF3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9784" y="5308092"/>
            <a:ext cx="9692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输出可追溯</a:t>
            </a:r>
            <a:endParaRPr lang="en-US" sz="8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32004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EXPORT GOVERNANCE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521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导出治理管道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12064" y="105156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E62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候选值不直接落盘，先治理成可评分 CSV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576304" y="237744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B8AA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85216" y="1554480"/>
            <a:ext cx="1572768" cy="713232"/>
          </a:xfrm>
          <a:prstGeom prst="roundRect">
            <a:avLst>
              <a:gd name="adj" fmla="val 10256"/>
            </a:avLst>
          </a:prstGeom>
          <a:solidFill>
            <a:srgbClr val="FFFDF8"/>
          </a:solidFill>
          <a:ln w="9525">
            <a:solidFill>
              <a:srgbClr val="DED6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737360"/>
            <a:ext cx="1426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521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Normalizer</a:t>
            </a:r>
            <a:endParaRPr lang="en-US" sz="870" dirty="0"/>
          </a:p>
        </p:txBody>
      </p:sp>
      <p:sp>
        <p:nvSpPr>
          <p:cNvPr id="10" name="Text 8"/>
          <p:cNvSpPr/>
          <p:nvPr/>
        </p:nvSpPr>
        <p:spPr>
          <a:xfrm>
            <a:off x="658368" y="1984248"/>
            <a:ext cx="14264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E62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格式统一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2212848" y="1792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59736" y="1554480"/>
            <a:ext cx="1572768" cy="713232"/>
          </a:xfrm>
          <a:prstGeom prst="roundRect">
            <a:avLst>
              <a:gd name="adj" fmla="val 10256"/>
            </a:avLst>
          </a:prstGeom>
          <a:solidFill>
            <a:srgbClr val="F5F0E7"/>
          </a:solidFill>
          <a:ln w="9525">
            <a:solidFill>
              <a:srgbClr val="DED6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32888" y="1737360"/>
            <a:ext cx="1426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521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Dedup</a:t>
            </a:r>
            <a:endParaRPr lang="en-US" sz="870" dirty="0"/>
          </a:p>
        </p:txBody>
      </p:sp>
      <p:sp>
        <p:nvSpPr>
          <p:cNvPr id="14" name="Text 12"/>
          <p:cNvSpPr/>
          <p:nvPr/>
        </p:nvSpPr>
        <p:spPr>
          <a:xfrm>
            <a:off x="2532888" y="1984248"/>
            <a:ext cx="14264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E62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同源去重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4087368" y="1792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34256" y="1554480"/>
            <a:ext cx="1572768" cy="713232"/>
          </a:xfrm>
          <a:prstGeom prst="roundRect">
            <a:avLst>
              <a:gd name="adj" fmla="val 10256"/>
            </a:avLst>
          </a:prstGeom>
          <a:solidFill>
            <a:srgbClr val="FFFDF8"/>
          </a:solidFill>
          <a:ln w="9525">
            <a:solidFill>
              <a:srgbClr val="DED6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07408" y="1737360"/>
            <a:ext cx="1426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521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Suppressor</a:t>
            </a:r>
            <a:endParaRPr lang="en-US" sz="870" dirty="0"/>
          </a:p>
        </p:txBody>
      </p:sp>
      <p:sp>
        <p:nvSpPr>
          <p:cNvPr id="18" name="Text 16"/>
          <p:cNvSpPr/>
          <p:nvPr/>
        </p:nvSpPr>
        <p:spPr>
          <a:xfrm>
            <a:off x="4407408" y="1984248"/>
            <a:ext cx="14264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E62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噪声过滤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5961888" y="1792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08776" y="1554480"/>
            <a:ext cx="1572768" cy="713232"/>
          </a:xfrm>
          <a:prstGeom prst="roundRect">
            <a:avLst>
              <a:gd name="adj" fmla="val 10256"/>
            </a:avLst>
          </a:prstGeom>
          <a:solidFill>
            <a:srgbClr val="F5F0E7"/>
          </a:solidFill>
          <a:ln w="9525">
            <a:solidFill>
              <a:srgbClr val="DED6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81928" y="1737360"/>
            <a:ext cx="1426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521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SemanticCleaner</a:t>
            </a:r>
            <a:endParaRPr lang="en-US" sz="870" dirty="0"/>
          </a:p>
        </p:txBody>
      </p:sp>
      <p:sp>
        <p:nvSpPr>
          <p:cNvPr id="22" name="Text 20"/>
          <p:cNvSpPr/>
          <p:nvPr/>
        </p:nvSpPr>
        <p:spPr>
          <a:xfrm>
            <a:off x="6281928" y="1984248"/>
            <a:ext cx="14264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E62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语义清洗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7836408" y="1792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83296" y="1554480"/>
            <a:ext cx="1572768" cy="713232"/>
          </a:xfrm>
          <a:prstGeom prst="roundRect">
            <a:avLst>
              <a:gd name="adj" fmla="val 10256"/>
            </a:avLst>
          </a:prstGeom>
          <a:solidFill>
            <a:srgbClr val="FFFDF8"/>
          </a:solidFill>
          <a:ln w="9525">
            <a:solidFill>
              <a:srgbClr val="DED6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56448" y="1737360"/>
            <a:ext cx="1426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521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CrossTypeDedup</a:t>
            </a:r>
            <a:endParaRPr lang="en-US" sz="870" dirty="0"/>
          </a:p>
        </p:txBody>
      </p:sp>
      <p:sp>
        <p:nvSpPr>
          <p:cNvPr id="26" name="Text 24"/>
          <p:cNvSpPr/>
          <p:nvPr/>
        </p:nvSpPr>
        <p:spPr>
          <a:xfrm>
            <a:off x="8156448" y="1984248"/>
            <a:ext cx="14264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E62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跨类型去重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9710928" y="1792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957816" y="1554480"/>
            <a:ext cx="1572768" cy="713232"/>
          </a:xfrm>
          <a:prstGeom prst="roundRect">
            <a:avLst>
              <a:gd name="adj" fmla="val 10256"/>
            </a:avLst>
          </a:prstGeom>
          <a:solidFill>
            <a:srgbClr val="F5F0E7"/>
          </a:solidFill>
          <a:ln w="9525">
            <a:solidFill>
              <a:srgbClr val="DED6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30968" y="1737360"/>
            <a:ext cx="1426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CsvWriter</a:t>
            </a:r>
            <a:endParaRPr lang="en-US" sz="870" dirty="0"/>
          </a:p>
        </p:txBody>
      </p:sp>
      <p:sp>
        <p:nvSpPr>
          <p:cNvPr id="30" name="Text 28"/>
          <p:cNvSpPr/>
          <p:nvPr/>
        </p:nvSpPr>
        <p:spPr>
          <a:xfrm>
            <a:off x="10030968" y="1984248"/>
            <a:ext cx="14264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E62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列输出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713232" y="2816352"/>
            <a:ext cx="3401568" cy="1938528"/>
          </a:xfrm>
          <a:prstGeom prst="roundRect">
            <a:avLst>
              <a:gd name="adj" fmla="val 3774"/>
            </a:avLst>
          </a:prstGeom>
          <a:solidFill>
            <a:srgbClr val="FFFDF8"/>
          </a:solidFill>
          <a:ln w="9525">
            <a:solidFill>
              <a:srgbClr val="DED6C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3232" y="2816352"/>
            <a:ext cx="64008" cy="19385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7824" y="2926080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标准化与去重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77824" y="3209544"/>
            <a:ext cx="3108960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3F3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全角转半角，手机号去 +86、空格、横线；同类型候选按 confidence 降序保留最高置信度条目。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4389120" y="2816352"/>
            <a:ext cx="3401568" cy="1938528"/>
          </a:xfrm>
          <a:prstGeom prst="roundRect">
            <a:avLst>
              <a:gd name="adj" fmla="val 3774"/>
            </a:avLst>
          </a:prstGeom>
          <a:solidFill>
            <a:srgbClr val="FFFDF8"/>
          </a:solidFill>
          <a:ln w="9525">
            <a:solidFill>
              <a:srgbClr val="DED6C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89120" y="2816352"/>
            <a:ext cx="64008" cy="19385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53712" y="2926080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降噪与语义清洗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553712" y="3209544"/>
            <a:ext cx="3108960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3F3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停用词、正则噪声、低置信度候选被过滤；字段名语义冲突时清理不合理类型，例如 age 字段不保留手机号标签。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8065008" y="2816352"/>
            <a:ext cx="3401568" cy="1938528"/>
          </a:xfrm>
          <a:prstGeom prst="roundRect">
            <a:avLst>
              <a:gd name="adj" fmla="val 3774"/>
            </a:avLst>
          </a:prstGeom>
          <a:solidFill>
            <a:srgbClr val="FFFDF8"/>
          </a:solidFill>
          <a:ln w="9525">
            <a:solidFill>
              <a:srgbClr val="DED6C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65008" y="2816352"/>
            <a:ext cx="64008" cy="19385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0" y="2926080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跨类型治理与写出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229600" y="3209544"/>
            <a:ext cx="3108960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3F3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同一记录中的同一值只保留最高置信度类型标签，最终由 CsvWriter 写成赛事要求的 9 列 upload.csv。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713232" y="5175504"/>
            <a:ext cx="10753344" cy="384048"/>
          </a:xfrm>
          <a:prstGeom prst="roundRect">
            <a:avLst>
              <a:gd name="adj" fmla="val 19048"/>
            </a:avLst>
          </a:prstGeom>
          <a:solidFill>
            <a:srgbClr val="F2E7D4"/>
          </a:solidFill>
          <a:ln w="9525">
            <a:solidFill>
              <a:srgbClr val="F2E7D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8680" y="5303520"/>
            <a:ext cx="10424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目标：把检测器的粗候选压成稳定、可评分、可追溯的最终 CSV。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32004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ENGINEERING DELIVERY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521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工程交付与总结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12064" y="105156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E62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配置外置、单文件打包、批处理与编码修复支撑现场运行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576304" y="237744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B8AA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58368" y="1463040"/>
            <a:ext cx="2596896" cy="1874520"/>
          </a:xfrm>
          <a:prstGeom prst="roundRect">
            <a:avLst>
              <a:gd name="adj" fmla="val 3902"/>
            </a:avLst>
          </a:prstGeom>
          <a:solidFill>
            <a:srgbClr val="FFFDF8"/>
          </a:solidFill>
          <a:ln w="9525">
            <a:solidFill>
              <a:srgbClr val="DED6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463040"/>
            <a:ext cx="64008" cy="18745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572768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可配置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1856232"/>
            <a:ext cx="2304288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3F3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config.yaml 外置数据库 host、port、账号、密码和库名，现场环境无需重新打包。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3456432" y="1463040"/>
            <a:ext cx="2596896" cy="1874520"/>
          </a:xfrm>
          <a:prstGeom prst="roundRect">
            <a:avLst>
              <a:gd name="adj" fmla="val 3902"/>
            </a:avLst>
          </a:prstGeom>
          <a:solidFill>
            <a:srgbClr val="FFFDF8"/>
          </a:solidFill>
          <a:ln w="9525">
            <a:solidFill>
              <a:srgbClr val="DED6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56432" y="1463040"/>
            <a:ext cx="64008" cy="18745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21024" y="1572768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可运行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21024" y="1856232"/>
            <a:ext cx="2304288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3F3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PyInstaller 单文件 Windows exe，约 95.8 MB，自包含依赖，现场无需安装 Python。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6254496" y="1463040"/>
            <a:ext cx="2596896" cy="1874520"/>
          </a:xfrm>
          <a:prstGeom prst="roundRect">
            <a:avLst>
              <a:gd name="adj" fmla="val 3902"/>
            </a:avLst>
          </a:prstGeom>
          <a:solidFill>
            <a:srgbClr val="FFFDF8"/>
          </a:solidFill>
          <a:ln w="9525">
            <a:solidFill>
              <a:srgbClr val="DED6C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54496" y="1463040"/>
            <a:ext cx="64008" cy="18745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19088" y="1572768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可控内存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19088" y="1856232"/>
            <a:ext cx="2304288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3F3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psutil 监控 RSS，超阈值触发 GC；BLOB 批大小 500，文本批大小 10000。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9052560" y="1463040"/>
            <a:ext cx="2596896" cy="1874520"/>
          </a:xfrm>
          <a:prstGeom prst="roundRect">
            <a:avLst>
              <a:gd name="adj" fmla="val 3902"/>
            </a:avLst>
          </a:prstGeom>
          <a:solidFill>
            <a:srgbClr val="FFFDF8"/>
          </a:solidFill>
          <a:ln w="9525">
            <a:solidFill>
              <a:srgbClr val="DED6C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52560" y="1463040"/>
            <a:ext cx="64008" cy="18745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17152" y="1572768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可处理乱码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217152" y="1856232"/>
            <a:ext cx="2304288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3F3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Mojibake 修复枚举多种编码组合，恢复 MySQL 中文姓名和地址乱码。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658368" y="3794760"/>
            <a:ext cx="3419856" cy="1078992"/>
          </a:xfrm>
          <a:prstGeom prst="roundRect">
            <a:avLst>
              <a:gd name="adj" fmla="val 6780"/>
            </a:avLst>
          </a:prstGeom>
          <a:solidFill>
            <a:srgbClr val="FFFDF8"/>
          </a:solidFill>
          <a:ln w="9525">
            <a:solidFill>
              <a:srgbClr val="DED6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4005072"/>
            <a:ext cx="3054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为什么能覆盖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" y="4370832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3F3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先按数据形态路由，再由专项检测器处理不同内容结构。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4370832" y="3794760"/>
            <a:ext cx="3419856" cy="1078992"/>
          </a:xfrm>
          <a:prstGeom prst="roundRect">
            <a:avLst>
              <a:gd name="adj" fmla="val 6780"/>
            </a:avLst>
          </a:prstGeom>
          <a:solidFill>
            <a:srgbClr val="FFFDF8"/>
          </a:solidFill>
          <a:ln w="9525">
            <a:solidFill>
              <a:srgbClr val="DED6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53712" y="4005072"/>
            <a:ext cx="3054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为什么能追溯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81144" y="4370832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3F3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Candidate 保留库、表、字段、记录、形态、类型和值。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8083296" y="3794760"/>
            <a:ext cx="3419856" cy="1078992"/>
          </a:xfrm>
          <a:prstGeom prst="roundRect">
            <a:avLst>
              <a:gd name="adj" fmla="val 6780"/>
            </a:avLst>
          </a:prstGeom>
          <a:solidFill>
            <a:srgbClr val="FFFDF8"/>
          </a:solidFill>
          <a:ln w="9525">
            <a:solidFill>
              <a:srgbClr val="DED6C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66176" y="4005072"/>
            <a:ext cx="3054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为什么能评分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93608" y="4370832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3F3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ExportPipeline 将候选治理成赛事要求的 9 列 upload.csv。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658368" y="5358384"/>
            <a:ext cx="10844784" cy="384048"/>
          </a:xfrm>
          <a:prstGeom prst="roundRect">
            <a:avLst>
              <a:gd name="adj" fmla="val 19048"/>
            </a:avLst>
          </a:prstGeom>
          <a:solidFill>
            <a:srgbClr val="F2E7D4"/>
          </a:solidFill>
          <a:ln w="9525">
            <a:solidFill>
              <a:srgbClr val="F2E7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" y="5486400"/>
            <a:ext cx="10405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总结：规则 + 字段语义 + 格式校验的可解释识别管道，覆盖完整、结果可追溯、产物可提交评分。</a:t>
            </a:r>
            <a:endParaRPr lang="en-US" sz="9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NDS V6 答辩PPT</dc:title>
  <dc:subject>NDS V6 defense</dc:subject>
  <dc:creator>Zerone01</dc:creator>
  <cp:lastModifiedBy>Zerone01</cp:lastModifiedBy>
  <cp:revision>1</cp:revision>
  <dcterms:created xsi:type="dcterms:W3CDTF">2026-06-25T18:39:18Z</dcterms:created>
  <dcterms:modified xsi:type="dcterms:W3CDTF">2026-06-25T18:39:18Z</dcterms:modified>
</cp:coreProperties>
</file>